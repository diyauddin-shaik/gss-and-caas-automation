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Business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Need for centralized StorageGRID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720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486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D5965"/>
                </a:solidFill>
                <a:latin typeface="Aptos"/>
              </a:rPr>
              <a:t>Centralized Storage Visibility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523744"/>
            <a:ext cx="201168" cy="20116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19172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68880"/>
            <a:ext cx="5577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3D4E5F"/>
                </a:solidFill>
                <a:latin typeface="Aptos"/>
              </a:rPr>
              <a:t>Monitor StorageGRID capacity utilization across multiple tenants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054096"/>
            <a:ext cx="201168" cy="20116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49524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99232"/>
            <a:ext cx="5577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3D4E5F"/>
                </a:solidFill>
                <a:latin typeface="Aptos"/>
              </a:rPr>
              <a:t>Provide bucket-level storage consumption insights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584448"/>
            <a:ext cx="201168" cy="20116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79876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5577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3D4E5F"/>
                </a:solidFill>
                <a:latin typeface="Aptos"/>
              </a:rPr>
              <a:t>Enable historical usage trend analysis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114799"/>
            <a:ext cx="201168" cy="20116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10227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59935"/>
            <a:ext cx="5577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3D4E5F"/>
                </a:solidFill>
                <a:latin typeface="Aptos"/>
              </a:rPr>
              <a:t>Improve storage capacity planning and forecasting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4645151"/>
            <a:ext cx="201168" cy="20116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40579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90288"/>
            <a:ext cx="5577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3D4E5F"/>
                </a:solidFill>
                <a:latin typeface="Aptos"/>
              </a:rPr>
              <a:t>Reduce manual monitoring efforts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5175503"/>
            <a:ext cx="201168" cy="20116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170931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20640"/>
            <a:ext cx="5577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3D4E5F"/>
                </a:solidFill>
                <a:latin typeface="Aptos"/>
              </a:rPr>
              <a:t>Deliver a centralized dashboard for operational and management reporting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691640"/>
            <a:ext cx="4160520" cy="452628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92024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A42"/>
                </a:solidFill>
                <a:latin typeface="Aptos"/>
              </a:rPr>
              <a:t>From Visibility Gap to Centralized View</a:t>
            </a:r>
          </a:p>
        </p:txBody>
      </p:sp>
      <p:sp>
        <p:nvSpPr>
          <p:cNvPr id="27" name="Oval 26"/>
          <p:cNvSpPr/>
          <p:nvPr/>
        </p:nvSpPr>
        <p:spPr>
          <a:xfrm>
            <a:off x="8961120" y="2514600"/>
            <a:ext cx="777240" cy="777240"/>
          </a:xfrm>
          <a:prstGeom prst="ellipse">
            <a:avLst/>
          </a:prstGeom>
          <a:solidFill>
            <a:srgbClr val="E8F2FC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743200"/>
            <a:ext cx="777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975B5"/>
                </a:solidFill>
                <a:latin typeface="Aptos"/>
              </a:rPr>
              <a:t>SG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55848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StorageGRID</a:t>
            </a:r>
          </a:p>
        </p:txBody>
      </p:sp>
      <p:sp>
        <p:nvSpPr>
          <p:cNvPr id="30" name="Oval 29"/>
          <p:cNvSpPr/>
          <p:nvPr/>
        </p:nvSpPr>
        <p:spPr>
          <a:xfrm>
            <a:off x="8961120" y="3703320"/>
            <a:ext cx="777240" cy="777240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931920"/>
            <a:ext cx="777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9194"/>
                </a:solidFill>
                <a:latin typeface="Aptos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44568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Central Metrics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45168" y="3291840"/>
            <a:ext cx="0" cy="36576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45168" y="4480560"/>
            <a:ext cx="0" cy="41148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46720" y="4937760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937760"/>
            <a:ext cx="50292" cy="640080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5010912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Operational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285232"/>
            <a:ext cx="2468880" cy="228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Capacity • Trends • 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StorageGRID Monitoring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4617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D5965"/>
                </a:solidFill>
                <a:latin typeface="Aptos"/>
              </a:rPr>
              <a:t>Key Capabilities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487168"/>
            <a:ext cx="438912" cy="43891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43891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3291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A42"/>
                </a:solidFill>
                <a:latin typeface="Aptos"/>
              </a:rPr>
              <a:t>Secure Authentication via PMP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3291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697989"/>
                </a:solidFill>
                <a:latin typeface="Aptos"/>
              </a:rPr>
              <a:t>Credentials / AUTHTOKEN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264408"/>
            <a:ext cx="438912" cy="438912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355848"/>
            <a:ext cx="43891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3291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A42"/>
                </a:solidFill>
                <a:latin typeface="Aptos"/>
              </a:rPr>
              <a:t>Multi-Tenant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3291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697989"/>
                </a:solidFill>
                <a:latin typeface="Aptos"/>
              </a:rPr>
              <a:t>Single &amp; CSV Mode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4041648"/>
            <a:ext cx="438912" cy="438912"/>
          </a:xfrm>
          <a:prstGeom prst="ellipse">
            <a:avLst/>
          </a:prstGeom>
          <a:solidFill>
            <a:srgbClr val="F1EFFC"/>
          </a:solidFill>
          <a:ln w="12700">
            <a:solidFill>
              <a:srgbClr val="F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33087"/>
            <a:ext cx="43891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3291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A42"/>
                </a:solidFill>
                <a:latin typeface="Aptos"/>
              </a:rPr>
              <a:t>Centralized Metrics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3291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697989"/>
                </a:solidFill>
                <a:latin typeface="Aptos"/>
              </a:rPr>
              <a:t>Prometheus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4818888"/>
            <a:ext cx="438912" cy="438912"/>
          </a:xfrm>
          <a:prstGeom prst="ellipse">
            <a:avLst/>
          </a:prstGeom>
          <a:solidFill>
            <a:srgbClr val="FCF7E5"/>
          </a:solidFill>
          <a:ln w="12700">
            <a:solidFill>
              <a:srgbClr val="FCF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910327"/>
            <a:ext cx="43891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00600"/>
            <a:ext cx="3291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A42"/>
                </a:solidFill>
                <a:latin typeface="Aptos"/>
              </a:rPr>
              <a:t>Operational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74920"/>
            <a:ext cx="3291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697989"/>
                </a:solidFill>
                <a:latin typeface="Aptos"/>
              </a:rPr>
              <a:t>Grafana dashboards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1691640"/>
            <a:ext cx="6309360" cy="452628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1920240"/>
            <a:ext cx="5394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975B5"/>
                </a:solidFill>
                <a:latin typeface="Aptos"/>
              </a:rPr>
              <a:t>StorageGRID Monitoring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2377440"/>
            <a:ext cx="37490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2377440"/>
            <a:ext cx="50292" cy="530352"/>
          </a:xfrm>
          <a:prstGeom prst="rect">
            <a:avLst/>
          </a:prstGeom>
          <a:solidFill>
            <a:srgbClr val="2975B5"/>
          </a:solidFill>
          <a:ln>
            <a:solidFill>
              <a:srgbClr val="29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8312" y="245059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Password Manager Pro (PMP)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724912"/>
            <a:ext cx="3474720" cy="1188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Resource ID / Account ID / AUTHTOKEN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2907792"/>
            <a:ext cx="0" cy="155448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903720" y="3063240"/>
            <a:ext cx="37490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03720" y="3063240"/>
            <a:ext cx="50292" cy="53035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313639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StorageGRID Exporter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410712"/>
            <a:ext cx="3474720" cy="1188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Single Mode / CSV Mode • Port 8000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78240" y="3593592"/>
            <a:ext cx="0" cy="155447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03720" y="3749039"/>
            <a:ext cx="37490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3720" y="3749039"/>
            <a:ext cx="50292" cy="530352"/>
          </a:xfrm>
          <a:prstGeom prst="rect">
            <a:avLst/>
          </a:prstGeom>
          <a:solidFill>
            <a:srgbClr val="7165B2"/>
          </a:solidFill>
          <a:ln>
            <a:solidFill>
              <a:srgbClr val="71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68312" y="3822191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StorageGRID Admin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4096511"/>
            <a:ext cx="3474720" cy="1188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Tenant Usage • Bucket Usage • Object Counts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0" y="4279392"/>
            <a:ext cx="0" cy="155448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903720" y="4434840"/>
            <a:ext cx="37490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4434840"/>
            <a:ext cx="50292" cy="530352"/>
          </a:xfrm>
          <a:prstGeom prst="rect">
            <a:avLst/>
          </a:prstGeom>
          <a:solidFill>
            <a:srgbClr val="D7A12D"/>
          </a:solidFill>
          <a:ln>
            <a:solidFill>
              <a:srgbClr val="D7A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68312" y="450799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Prometheus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8312" y="4782312"/>
            <a:ext cx="3474720" cy="1188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TSDB Database • Port 9090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78240" y="4965192"/>
            <a:ext cx="0" cy="155448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903720" y="5120640"/>
            <a:ext cx="37490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03720" y="5120640"/>
            <a:ext cx="50292" cy="530352"/>
          </a:xfrm>
          <a:prstGeom prst="rect">
            <a:avLst/>
          </a:prstGeom>
          <a:solidFill>
            <a:srgbClr val="D74F46"/>
          </a:solidFill>
          <a:ln>
            <a:solidFill>
              <a:srgbClr val="D74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68312" y="519379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5468112"/>
            <a:ext cx="3474720" cy="1188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Dashboards &amp; Visualization • Port 3000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Single Mode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One StorageGRID tenant monitored through a single exporter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4709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931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D5965"/>
                </a:solidFill>
                <a:latin typeface="Aptos"/>
              </a:rPr>
              <a:t>Configuration Example – config.ini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0233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142A42"/>
                </a:solidFill>
                <a:latin typeface="Consolas"/>
              </a:rPr>
              <a:t>[auth]
mode = single
storagegrid_tenant_id = 41307530165068448760
pmp_tenant_account_id = 227425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886200"/>
            <a:ext cx="4206240" cy="192024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69080"/>
            <a:ext cx="3383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42A42"/>
                </a:solidFill>
                <a:latin typeface="Aptos"/>
              </a:rPr>
              <a:t>Validation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07408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3D4E5F"/>
                </a:solidFill>
                <a:latin typeface="Aptos"/>
              </a:rPr>
              <a:t>✓  Authenticated tenant 41307530165068448760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626864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3D4E5F"/>
                </a:solidFill>
                <a:latin typeface="Aptos"/>
              </a:rPr>
              <a:t>✓  Authenticated 1 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46320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3D4E5F"/>
                </a:solidFill>
                <a:latin typeface="Aptos"/>
              </a:rPr>
              <a:t>✓  Prometheus exporter running on port 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065776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3D4E5F"/>
                </a:solidFill>
                <a:latin typeface="Aptos"/>
              </a:rPr>
              <a:t>✓  Collecting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28523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3D4E5F"/>
                </a:solidFill>
                <a:latin typeface="Aptos"/>
              </a:rPr>
              <a:t>✓  Collecting metric for 1 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504688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3D4E5F"/>
                </a:solidFill>
                <a:latin typeface="Aptos"/>
              </a:rPr>
              <a:t>✓  Waiting 300s until next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691640"/>
            <a:ext cx="6172200" cy="452628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920240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2514600"/>
            <a:ext cx="502920" cy="502920"/>
          </a:xfrm>
          <a:prstGeom prst="ellipse">
            <a:avLst/>
          </a:prstGeom>
          <a:solidFill>
            <a:srgbClr val="E8F2FC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642616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496312"/>
            <a:ext cx="3474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142A42"/>
                </a:solidFill>
                <a:latin typeface="Aptos"/>
              </a:rPr>
              <a:t>Password Manager Pro (PMP)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770632"/>
            <a:ext cx="3474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989"/>
                </a:solidFill>
                <a:latin typeface="Aptos"/>
              </a:rPr>
              <a:t>Retrieve Credentials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36208" y="3017520"/>
            <a:ext cx="0" cy="22860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89320" y="3246120"/>
            <a:ext cx="502920" cy="502920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3374136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227832"/>
            <a:ext cx="3474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142A42"/>
                </a:solidFill>
                <a:latin typeface="Aptos"/>
              </a:rPr>
              <a:t>StorageGRID Exporter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502152"/>
            <a:ext cx="3474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989"/>
                </a:solidFill>
                <a:latin typeface="Aptos"/>
              </a:rPr>
              <a:t>Use credentials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36208" y="3749039"/>
            <a:ext cx="0" cy="22860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989320" y="3977639"/>
            <a:ext cx="502920" cy="502920"/>
          </a:xfrm>
          <a:prstGeom prst="ellipse">
            <a:avLst/>
          </a:prstGeom>
          <a:solidFill>
            <a:srgbClr val="F1EFFC"/>
          </a:solidFill>
          <a:ln w="12700">
            <a:solidFill>
              <a:srgbClr val="F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105655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959352"/>
            <a:ext cx="3474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142A42"/>
                </a:solidFill>
                <a:latin typeface="Aptos"/>
              </a:rPr>
              <a:t>StorageGRID Admin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233672"/>
            <a:ext cx="3474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989"/>
                </a:solidFill>
                <a:latin typeface="Aptos"/>
              </a:rPr>
              <a:t>Authenticate Tenant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4480559"/>
            <a:ext cx="0" cy="228601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989320" y="4709160"/>
            <a:ext cx="502920" cy="502920"/>
          </a:xfrm>
          <a:prstGeom prst="ellipse">
            <a:avLst/>
          </a:prstGeom>
          <a:solidFill>
            <a:srgbClr val="FCF7E5"/>
          </a:solidFill>
          <a:ln w="12700">
            <a:solidFill>
              <a:srgbClr val="FCF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4837176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42A42"/>
                </a:solidFill>
                <a:latin typeface="Aptos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690872"/>
            <a:ext cx="3474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142A42"/>
                </a:solidFill>
                <a:latin typeface="Aptos"/>
              </a:rPr>
              <a:t>Prometheus Metrics Endpoint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965192"/>
            <a:ext cx="3474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989"/>
                </a:solidFill>
                <a:latin typeface="Aptos"/>
              </a:rPr>
              <a:t>Collect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82803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975B5"/>
                </a:solidFill>
                <a:latin typeface="Aptos"/>
              </a:rPr>
              <a:t>http://hostname:
8000/metrics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CSV Mode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Monitor multiple StorageGRID tenants using a single exporter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4617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Validation Result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560320"/>
            <a:ext cx="530352" cy="53035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688336"/>
            <a:ext cx="5303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975B5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4203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42A42"/>
                </a:solidFill>
                <a:latin typeface="Aptos"/>
              </a:rPr>
              <a:t>Authenticated 14 tenants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71215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97989"/>
                </a:solidFill>
                <a:latin typeface="Aptos"/>
              </a:rPr>
              <a:t>Credential validation completed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657600"/>
            <a:ext cx="530352" cy="530352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85615"/>
            <a:ext cx="5303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9194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3931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42A42"/>
                </a:solidFill>
                <a:latin typeface="Aptos"/>
              </a:rPr>
              <a:t>Collecting metrics for 114 tenants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68496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97989"/>
                </a:solidFill>
                <a:latin typeface="Aptos"/>
              </a:rPr>
              <a:t>Metrics collection 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691640"/>
            <a:ext cx="6309360" cy="452628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920240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CSV-driven Monitoring Flow</a:t>
            </a:r>
          </a:p>
        </p:txBody>
      </p:sp>
      <p:sp>
        <p:nvSpPr>
          <p:cNvPr id="17" name="Oval 16"/>
          <p:cNvSpPr/>
          <p:nvPr/>
        </p:nvSpPr>
        <p:spPr>
          <a:xfrm>
            <a:off x="5806440" y="2880360"/>
            <a:ext cx="685800" cy="685800"/>
          </a:xfrm>
          <a:prstGeom prst="ellipse">
            <a:avLst/>
          </a:prstGeom>
          <a:solidFill>
            <a:srgbClr val="E8F2FC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090672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2A42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3685032"/>
            <a:ext cx="1097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42A42"/>
                </a:solidFill>
                <a:latin typeface="Aptos"/>
              </a:rPr>
              <a:t>CSV File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19672" y="3227832"/>
            <a:ext cx="630935" cy="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78040" y="2880360"/>
            <a:ext cx="685800" cy="685800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090672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2A42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685032"/>
            <a:ext cx="1097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42A42"/>
                </a:solidFill>
                <a:latin typeface="Aptos"/>
              </a:rPr>
              <a:t>Multiple Tenants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91271" y="3227832"/>
            <a:ext cx="630937" cy="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549640" y="2880360"/>
            <a:ext cx="685800" cy="685800"/>
          </a:xfrm>
          <a:prstGeom prst="ellipse">
            <a:avLst/>
          </a:prstGeom>
          <a:solidFill>
            <a:srgbClr val="F1EFFC"/>
          </a:solidFill>
          <a:ln w="12700">
            <a:solidFill>
              <a:srgbClr val="F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090672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2A42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3685032"/>
            <a:ext cx="1097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42A42"/>
                </a:solidFill>
                <a:latin typeface="Aptos"/>
              </a:rPr>
              <a:t>Authentication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62872" y="3227832"/>
            <a:ext cx="630936" cy="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21240" y="2880360"/>
            <a:ext cx="685800" cy="685800"/>
          </a:xfrm>
          <a:prstGeom prst="ellipse">
            <a:avLst/>
          </a:prstGeom>
          <a:solidFill>
            <a:srgbClr val="FCF7E5"/>
          </a:solidFill>
          <a:ln w="12700">
            <a:solidFill>
              <a:srgbClr val="FCF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3090672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2A42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3685032"/>
            <a:ext cx="1097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42A42"/>
                </a:solidFill>
                <a:latin typeface="Aptos"/>
              </a:rPr>
              <a:t>Metrics Collection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44348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4590288"/>
            <a:ext cx="48920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3D4E5F"/>
                </a:solidFill>
                <a:latin typeface="Aptos"/>
              </a:rPr>
              <a:t>A single exporter reads tenant definitions from CSV, authenticates each tenant, and collects metrics centrally.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0" y="2267712"/>
            <a:ext cx="420624" cy="420624"/>
          </a:xfrm>
          <a:prstGeom prst="ellipse">
            <a:avLst/>
          </a:prstGeom>
          <a:solidFill>
            <a:srgbClr val="E6F7F4"/>
          </a:solidFill>
          <a:ln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2267712"/>
            <a:ext cx="420624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9194"/>
                </a:solidFill>
                <a:latin typeface="Segoe UI Symbol"/>
              </a:rPr>
              <a:t>⚙</a:t>
            </a:r>
          </a:p>
        </p:txBody>
      </p:sp>
      <p:sp>
        <p:nvSpPr>
          <p:cNvPr id="37" name="Oval 36"/>
          <p:cNvSpPr/>
          <p:nvPr/>
        </p:nvSpPr>
        <p:spPr>
          <a:xfrm>
            <a:off x="5806440" y="2633472"/>
            <a:ext cx="566928" cy="566928"/>
          </a:xfrm>
          <a:prstGeom prst="ellipse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2642615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975B5"/>
                </a:solidFill>
                <a:latin typeface="Segoe UI Symbol"/>
              </a:rPr>
              <a:t>▤</a:t>
            </a:r>
          </a:p>
        </p:txBody>
      </p:sp>
      <p:sp>
        <p:nvSpPr>
          <p:cNvPr id="39" name="Oval 38"/>
          <p:cNvSpPr/>
          <p:nvPr/>
        </p:nvSpPr>
        <p:spPr>
          <a:xfrm>
            <a:off x="7178040" y="2633472"/>
            <a:ext cx="566928" cy="566928"/>
          </a:xfrm>
          <a:prstGeom prst="ellipse">
            <a:avLst/>
          </a:prstGeom>
          <a:solidFill>
            <a:srgbClr val="E6F7F4"/>
          </a:solidFill>
          <a:ln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2642615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49194"/>
                </a:solidFill>
                <a:latin typeface="Segoe UI Symbol"/>
              </a:rPr>
              <a:t>▥</a:t>
            </a:r>
          </a:p>
        </p:txBody>
      </p:sp>
      <p:sp>
        <p:nvSpPr>
          <p:cNvPr id="41" name="Oval 40"/>
          <p:cNvSpPr/>
          <p:nvPr/>
        </p:nvSpPr>
        <p:spPr>
          <a:xfrm>
            <a:off x="8549640" y="2633472"/>
            <a:ext cx="566928" cy="566928"/>
          </a:xfrm>
          <a:prstGeom prst="ellipse">
            <a:avLst/>
          </a:prstGeom>
          <a:solidFill>
            <a:srgbClr val="F1EFFC"/>
          </a:solidFill>
          <a:ln>
            <a:solidFill>
              <a:srgbClr val="F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2642615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7165B2"/>
                </a:solidFill>
                <a:latin typeface="Segoe UI Symbol"/>
              </a:rPr>
              <a:t>✓</a:t>
            </a:r>
          </a:p>
        </p:txBody>
      </p:sp>
      <p:sp>
        <p:nvSpPr>
          <p:cNvPr id="43" name="Oval 42"/>
          <p:cNvSpPr/>
          <p:nvPr/>
        </p:nvSpPr>
        <p:spPr>
          <a:xfrm>
            <a:off x="9921240" y="2633472"/>
            <a:ext cx="566928" cy="566928"/>
          </a:xfrm>
          <a:prstGeom prst="ellipse">
            <a:avLst/>
          </a:prstGeom>
          <a:solidFill>
            <a:srgbClr val="FCF7E5"/>
          </a:solidFill>
          <a:ln>
            <a:solidFill>
              <a:srgbClr val="FCF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2642615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7A12D"/>
                </a:solidFill>
                <a:latin typeface="Segoe UI Symbol"/>
              </a:rPr>
              <a:t>◔</a:t>
            </a:r>
          </a:p>
        </p:txBody>
      </p:sp>
      <p:sp>
        <p:nvSpPr>
          <p:cNvPr id="45" name="Oval 44"/>
          <p:cNvSpPr/>
          <p:nvPr/>
        </p:nvSpPr>
        <p:spPr>
          <a:xfrm>
            <a:off x="10771632" y="2633472"/>
            <a:ext cx="566928" cy="566928"/>
          </a:xfrm>
          <a:prstGeom prst="ellipse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71632" y="2642615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74F46"/>
                </a:solidFill>
                <a:latin typeface="Segoe UI Symbol"/>
              </a:rPr>
              <a:t>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Centralized Metrics Collection Using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Transform StorageGRID operational data into time-series metrics for historical analysis and observability.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6400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D5965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5669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0">
                <a:solidFill>
                  <a:srgbClr val="3D4E5F"/>
                </a:solidFill>
                <a:latin typeface="Aptos"/>
              </a:rPr>
              <a:t>Transform StorageGRID operational data into time-series metrics for historical analysis and observability.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D5965"/>
                </a:solidFill>
                <a:latin typeface="Aptos"/>
              </a:rPr>
              <a:t>Key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5486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3D4E5F"/>
                </a:solidFill>
                <a:latin typeface="Aptos"/>
              </a:rPr>
              <a:t>•  Continuous metric collection from StorageGRID Exporter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31336"/>
            <a:ext cx="5486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3D4E5F"/>
                </a:solidFill>
                <a:latin typeface="Aptos"/>
              </a:rPr>
              <a:t>•  Local TSDB storage for historical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5486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3D4E5F"/>
                </a:solidFill>
                <a:latin typeface="Aptos"/>
              </a:rPr>
              <a:t>•  PromQL-based querying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27448"/>
            <a:ext cx="5486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3D4E5F"/>
                </a:solidFill>
                <a:latin typeface="Aptos"/>
              </a:rPr>
              <a:t>•  Multi-tenant metric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75504"/>
            <a:ext cx="5486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>
                <a:solidFill>
                  <a:srgbClr val="3D4E5F"/>
                </a:solidFill>
                <a:latin typeface="Aptos"/>
              </a:rPr>
              <a:t>•  Integration layer for Grafana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737360"/>
            <a:ext cx="4480560" cy="443484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65960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Metric Data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606040"/>
            <a:ext cx="3520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2606040"/>
            <a:ext cx="50292" cy="640080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267919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StorageGRID Exporter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2953512"/>
            <a:ext cx="3246120" cy="228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Port 8000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00032" y="3246120"/>
            <a:ext cx="0" cy="45720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35240" y="3703320"/>
            <a:ext cx="3520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3703320"/>
            <a:ext cx="50292" cy="640080"/>
          </a:xfrm>
          <a:prstGeom prst="rect">
            <a:avLst/>
          </a:prstGeom>
          <a:solidFill>
            <a:srgbClr val="2975B5"/>
          </a:solidFill>
          <a:ln>
            <a:solidFill>
              <a:srgbClr val="29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377647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Prometheus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4050791"/>
            <a:ext cx="3246120" cy="228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TSDB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4343400"/>
            <a:ext cx="0" cy="457200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4800600"/>
            <a:ext cx="3520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800600"/>
            <a:ext cx="50292" cy="640080"/>
          </a:xfrm>
          <a:prstGeom prst="rect">
            <a:avLst/>
          </a:prstGeom>
          <a:solidFill>
            <a:srgbClr val="7165B2"/>
          </a:solidFill>
          <a:ln>
            <a:solidFill>
              <a:srgbClr val="71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87375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Historical Metrics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5148072"/>
            <a:ext cx="3246120" cy="228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Queryable time-series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Operational Observability Using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Provide intuitive dashboards for operational monitoring, capacity visibility and decision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7543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Dashboard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148840" cy="2606040"/>
          </a:xfrm>
          <a:prstGeom prst="roundRect">
            <a:avLst/>
          </a:prstGeom>
          <a:solidFill>
            <a:srgbClr val="E8F2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743200"/>
            <a:ext cx="1783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2975B5"/>
                </a:solidFill>
                <a:latin typeface="Aptos"/>
              </a:rPr>
              <a:t>Capacity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429000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Tenant Storage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867912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Bucket Level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306824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Object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514600"/>
            <a:ext cx="2148840" cy="2606040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743200"/>
            <a:ext cx="1783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149194"/>
                </a:solidFill>
                <a:latin typeface="Aptos"/>
              </a:rPr>
              <a:t>Operational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3429000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User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3867912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Group 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4306824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Bucket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514600"/>
            <a:ext cx="2148840" cy="2606040"/>
          </a:xfrm>
          <a:prstGeom prst="roundRect">
            <a:avLst/>
          </a:prstGeom>
          <a:solidFill>
            <a:srgbClr val="F1EF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2743200"/>
            <a:ext cx="1783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80" b="1">
                <a:solidFill>
                  <a:srgbClr val="7165B2"/>
                </a:solidFill>
                <a:latin typeface="Aptos"/>
              </a:rPr>
              <a:t>Capacity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429000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Historical Growth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3867912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High Consumption Tenants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4306824"/>
            <a:ext cx="1783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3D4E5F"/>
                </a:solidFill>
                <a:latin typeface="Aptos"/>
              </a:rPr>
              <a:t>•  Bucket Consumption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737360"/>
            <a:ext cx="3383280" cy="443484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965960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Data Flow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606040"/>
            <a:ext cx="384048" cy="384048"/>
          </a:xfrm>
          <a:prstGeom prst="ellipse">
            <a:avLst/>
          </a:prstGeom>
          <a:solidFill>
            <a:srgbClr val="E8F2FC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679192"/>
            <a:ext cx="384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2A42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87752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42A42"/>
                </a:solidFill>
                <a:latin typeface="Aptos"/>
              </a:rPr>
              <a:t>StorageGRID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33104" y="2990088"/>
            <a:ext cx="0" cy="256032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641080" y="3246120"/>
            <a:ext cx="384048" cy="384048"/>
          </a:xfrm>
          <a:prstGeom prst="ellipse">
            <a:avLst/>
          </a:prstGeom>
          <a:solidFill>
            <a:srgbClr val="E6F7F4"/>
          </a:solidFill>
          <a:ln w="1270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319272"/>
            <a:ext cx="384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2A42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227832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42A42"/>
                </a:solidFill>
                <a:latin typeface="Aptos"/>
              </a:rPr>
              <a:t>Exporter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33104" y="3630168"/>
            <a:ext cx="0" cy="256032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41080" y="3886200"/>
            <a:ext cx="384048" cy="384048"/>
          </a:xfrm>
          <a:prstGeom prst="ellipse">
            <a:avLst/>
          </a:prstGeom>
          <a:solidFill>
            <a:srgbClr val="F1EFFC"/>
          </a:solidFill>
          <a:ln w="12700">
            <a:solidFill>
              <a:srgbClr val="F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3959352"/>
            <a:ext cx="384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2A42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867912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42A42"/>
                </a:solidFill>
                <a:latin typeface="Aptos"/>
              </a:rPr>
              <a:t>Prometheus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33104" y="4270248"/>
            <a:ext cx="0" cy="256032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641080" y="4526280"/>
            <a:ext cx="384048" cy="384048"/>
          </a:xfrm>
          <a:prstGeom prst="ellipse">
            <a:avLst/>
          </a:prstGeom>
          <a:solidFill>
            <a:srgbClr val="FCF7E5"/>
          </a:solidFill>
          <a:ln w="12700">
            <a:solidFill>
              <a:srgbClr val="FCF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599432"/>
            <a:ext cx="384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2A42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507992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42A42"/>
                </a:solidFill>
                <a:latin typeface="Aptos"/>
              </a:rPr>
              <a:t>Grafana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33104" y="4910328"/>
            <a:ext cx="0" cy="256032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641080" y="5166360"/>
            <a:ext cx="384048" cy="384048"/>
          </a:xfrm>
          <a:prstGeom prst="ellipse">
            <a:avLst/>
          </a:prstGeom>
          <a:solidFill>
            <a:srgbClr val="FCECEA"/>
          </a:solidFill>
          <a:ln w="12700">
            <a:solidFill>
              <a:srgbClr val="FC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5239512"/>
            <a:ext cx="384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42A42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5148072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42A42"/>
                </a:solidFill>
                <a:latin typeface="Aptos"/>
              </a:rPr>
              <a:t>Insights &amp; Decisions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6</a:t>
            </a:r>
          </a:p>
        </p:txBody>
      </p:sp>
      <p:sp>
        <p:nvSpPr>
          <p:cNvPr id="44" name="Oval 43"/>
          <p:cNvSpPr/>
          <p:nvPr/>
        </p:nvSpPr>
        <p:spPr>
          <a:xfrm>
            <a:off x="8549640" y="2331720"/>
            <a:ext cx="420624" cy="420624"/>
          </a:xfrm>
          <a:prstGeom prst="ellipse">
            <a:avLst/>
          </a:prstGeom>
          <a:solidFill>
            <a:srgbClr val="E6F7F4"/>
          </a:solidFill>
          <a:ln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2331720"/>
            <a:ext cx="420624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9194"/>
                </a:solidFill>
                <a:latin typeface="Segoe UI Symbol"/>
              </a:rPr>
              <a:t>↗</a:t>
            </a:r>
          </a:p>
        </p:txBody>
      </p:sp>
      <p:sp>
        <p:nvSpPr>
          <p:cNvPr id="46" name="Oval 45"/>
          <p:cNvSpPr/>
          <p:nvPr/>
        </p:nvSpPr>
        <p:spPr>
          <a:xfrm>
            <a:off x="8641080" y="2697480"/>
            <a:ext cx="384048" cy="384048"/>
          </a:xfrm>
          <a:prstGeom prst="ellipse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2706624"/>
            <a:ext cx="384048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975B5"/>
                </a:solidFill>
                <a:latin typeface="Segoe UI Symbol"/>
              </a:rPr>
              <a:t>▤</a:t>
            </a:r>
          </a:p>
        </p:txBody>
      </p:sp>
      <p:sp>
        <p:nvSpPr>
          <p:cNvPr id="48" name="Oval 47"/>
          <p:cNvSpPr/>
          <p:nvPr/>
        </p:nvSpPr>
        <p:spPr>
          <a:xfrm>
            <a:off x="8641080" y="3337560"/>
            <a:ext cx="384048" cy="384048"/>
          </a:xfrm>
          <a:prstGeom prst="ellipse">
            <a:avLst/>
          </a:prstGeom>
          <a:solidFill>
            <a:srgbClr val="E6F7F4"/>
          </a:solidFill>
          <a:ln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3346703"/>
            <a:ext cx="384048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49194"/>
                </a:solidFill>
                <a:latin typeface="Segoe UI Symbol"/>
              </a:rPr>
              <a:t>▥</a:t>
            </a:r>
          </a:p>
        </p:txBody>
      </p:sp>
      <p:sp>
        <p:nvSpPr>
          <p:cNvPr id="50" name="Oval 49"/>
          <p:cNvSpPr/>
          <p:nvPr/>
        </p:nvSpPr>
        <p:spPr>
          <a:xfrm>
            <a:off x="8641080" y="3977639"/>
            <a:ext cx="384048" cy="384048"/>
          </a:xfrm>
          <a:prstGeom prst="ellipse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3986783"/>
            <a:ext cx="384048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74F46"/>
                </a:solidFill>
                <a:latin typeface="Segoe UI Symbol"/>
              </a:rPr>
              <a:t>P</a:t>
            </a:r>
          </a:p>
        </p:txBody>
      </p:sp>
      <p:sp>
        <p:nvSpPr>
          <p:cNvPr id="52" name="Oval 51"/>
          <p:cNvSpPr/>
          <p:nvPr/>
        </p:nvSpPr>
        <p:spPr>
          <a:xfrm>
            <a:off x="8641080" y="4617720"/>
            <a:ext cx="384048" cy="384048"/>
          </a:xfrm>
          <a:prstGeom prst="ellipse">
            <a:avLst/>
          </a:prstGeom>
          <a:solidFill>
            <a:srgbClr val="FCF7E5"/>
          </a:solidFill>
          <a:ln>
            <a:solidFill>
              <a:srgbClr val="FCF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4626864"/>
            <a:ext cx="384048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7A12D"/>
                </a:solidFill>
                <a:latin typeface="Segoe UI Symbol"/>
              </a:rPr>
              <a:t>▦</a:t>
            </a:r>
          </a:p>
        </p:txBody>
      </p:sp>
      <p:sp>
        <p:nvSpPr>
          <p:cNvPr id="54" name="Oval 53"/>
          <p:cNvSpPr/>
          <p:nvPr/>
        </p:nvSpPr>
        <p:spPr>
          <a:xfrm>
            <a:off x="8641080" y="5257800"/>
            <a:ext cx="384048" cy="384048"/>
          </a:xfrm>
          <a:prstGeom prst="ellipse">
            <a:avLst/>
          </a:prstGeom>
          <a:solidFill>
            <a:srgbClr val="F1EFFC"/>
          </a:solidFill>
          <a:ln>
            <a:solidFill>
              <a:srgbClr val="F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5266944"/>
            <a:ext cx="384048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7165B2"/>
                </a:solidFill>
                <a:latin typeface="Segoe UI Symbol"/>
              </a:rP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93192"/>
            <a:ext cx="804672" cy="50292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60350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42A42"/>
                </a:solidFill>
                <a:latin typeface="Aptos"/>
              </a:rPr>
              <a:t>StorageGRID Capacity &amp; Utilization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>
                <a:solidFill>
                  <a:srgbClr val="3D4E5F"/>
                </a:solidFill>
                <a:latin typeface="Aptos"/>
              </a:rPr>
              <a:t>Dashboard components for executive visibility, utilization analysis and growth monitoring.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6446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Dashboard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Executive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Total Storage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63824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Total Buckets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Total Tenant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Utilization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41648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Storage Usage by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52544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Bucket Usage by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Trend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01768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Historical Usage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12664"/>
            <a:ext cx="4480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3D4E5F"/>
                </a:solidFill>
                <a:latin typeface="Aptos"/>
              </a:rPr>
              <a:t>•  Storage Growth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37360"/>
            <a:ext cx="4434840" cy="443484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96596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D5965"/>
                </a:solidFill>
                <a:latin typeface="Aptos"/>
              </a:rPr>
              <a:t>Data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651760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2651760"/>
            <a:ext cx="50292" cy="658368"/>
          </a:xfrm>
          <a:prstGeom prst="rect">
            <a:avLst/>
          </a:prstGeom>
          <a:solidFill>
            <a:srgbClr val="2975B5"/>
          </a:solidFill>
          <a:ln>
            <a:solidFill>
              <a:srgbClr val="29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2724912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Prometheus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2999232"/>
            <a:ext cx="3154680" cy="246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Metrics source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45752" y="3310128"/>
            <a:ext cx="0" cy="393192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26679" y="3703320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3703320"/>
            <a:ext cx="50292" cy="658368"/>
          </a:xfrm>
          <a:prstGeom prst="rect">
            <a:avLst/>
          </a:prstGeom>
          <a:solidFill>
            <a:srgbClr val="149194"/>
          </a:solidFill>
          <a:ln>
            <a:solidFill>
              <a:srgbClr val="14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1" y="3776472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Local Disk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1" y="4050791"/>
            <a:ext cx="3154680" cy="246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/opt/prometheus/data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45752" y="4361688"/>
            <a:ext cx="0" cy="393192"/>
          </a:xfrm>
          <a:prstGeom prst="line">
            <a:avLst/>
          </a:prstGeom>
          <a:ln w="19050">
            <a:solidFill>
              <a:srgbClr val="57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26679" y="4754880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6679" y="4754880"/>
            <a:ext cx="50292" cy="658368"/>
          </a:xfrm>
          <a:prstGeom prst="rect">
            <a:avLst/>
          </a:prstGeom>
          <a:solidFill>
            <a:srgbClr val="7165B2"/>
          </a:solidFill>
          <a:ln>
            <a:solidFill>
              <a:srgbClr val="71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4828032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30" b="1">
                <a:solidFill>
                  <a:srgbClr val="142A42"/>
                </a:solidFill>
                <a:latin typeface="Aptos"/>
              </a:rPr>
              <a:t>Grafana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1" y="5102352"/>
            <a:ext cx="3154680" cy="246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3D4E5F"/>
                </a:solidFill>
                <a:latin typeface="Aptos"/>
              </a:rPr>
              <a:t>Visualization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715000"/>
            <a:ext cx="3429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9" b="0">
                <a:solidFill>
                  <a:srgbClr val="697989"/>
                </a:solidFill>
                <a:latin typeface="Aptos"/>
              </a:rPr>
              <a:t>Capacity → Utilization → Trends →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105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98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564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